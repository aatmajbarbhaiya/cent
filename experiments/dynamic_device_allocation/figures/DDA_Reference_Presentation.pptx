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44062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Dynamic Device Allocation in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501A"/>
                </a:solidFill>
              </a:rPr>
              <a:t>Heterogeneous Pool Splitting for Mixed Interactive and Batch Workloads using PIM/CXL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Aatmaj Barbhaiya</a:t>
            </a:r>
          </a:p>
          <a:p>
            <a:r>
              <a:rPr sz="1100" b="0">
                <a:solidFill>
                  <a:srgbClr val="FFFFFF"/>
                </a:solidFill>
              </a:rPr>
              <a:t>IIT Bombay — EE Dept.</a:t>
            </a:r>
          </a:p>
          <a:p>
            <a:r>
              <a:rPr sz="1100" b="0">
                <a:solidFill>
                  <a:srgbClr val="FFFFFF"/>
                </a:solidFill>
              </a:rPr>
              <a:t>CADSL 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017520"/>
            <a:ext cx="2011680" cy="777240"/>
          </a:xfrm>
          <a:prstGeom prst="rect">
            <a:avLst/>
          </a:prstGeom>
          <a:solidFill>
            <a:srgbClr val="0D1E45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063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501A"/>
                </a:solidFill>
              </a:rPr>
              <a:t>ASPLOS 2025</a:t>
            </a:r>
          </a:p>
          <a:p>
            <a:r>
              <a:rPr sz="900" b="0">
                <a:solidFill>
                  <a:srgbClr val="FFFFFF"/>
                </a:solidFill>
              </a:rPr>
              <a:t>PIM Is All You Need</a:t>
            </a:r>
          </a:p>
          <a:p>
            <a:r>
              <a:rPr sz="900" b="0">
                <a:solidFill>
                  <a:srgbClr val="FFFFFF"/>
                </a:solidFill>
              </a:rPr>
              <a:t>CENT Simulator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4880"/>
            <a:ext cx="9144000" cy="726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Introduction — LLM Inference Has Two Conflicting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Interactive chat vs. batch summarization — different SLO, same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4343400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68680"/>
            <a:ext cx="43434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Interactive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61288"/>
            <a:ext cx="141732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161288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Seqlen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161288"/>
            <a:ext cx="292608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161288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200 – 512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508760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508760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SLO (TTFT)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508760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508760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&lt; 1 second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856232"/>
            <a:ext cx="141732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856232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856232"/>
            <a:ext cx="292608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1856232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Latency = revenue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203704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203704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Optimal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2203704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2203704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High TP (PP=1) — all devices share weights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551176"/>
            <a:ext cx="141732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2551176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2551176"/>
            <a:ext cx="2926080" cy="34747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2551176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TP=max → −79–92% throughput loss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868680"/>
            <a:ext cx="4343400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868680"/>
            <a:ext cx="43434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Batch / Offline Requests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161288"/>
            <a:ext cx="141732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1161288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Seqlen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161288"/>
            <a:ext cx="292608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161288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512 – 4096+ tokens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1508760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1508760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SLO (TTFT)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508760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508760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&lt; 5 seconds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1856232"/>
            <a:ext cx="141732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1856232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Priority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856232"/>
            <a:ext cx="292608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1856232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Throughput = cost reduction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203704"/>
            <a:ext cx="1417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2203704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Optimal config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203704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2203704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High PP (TP=1) — full pipeline depth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2551176"/>
            <a:ext cx="141732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51176"/>
            <a:ext cx="1417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Problem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551176"/>
            <a:ext cx="2926080" cy="34747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2551176"/>
            <a:ext cx="292608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PP=max → 4–10× TTFT SLO violation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434840"/>
            <a:ext cx="8778240" cy="502920"/>
          </a:xfrm>
          <a:prstGeom prst="rect">
            <a:avLst/>
          </a:prstGeom>
          <a:solidFill>
            <a:srgbClr val="D9EAFF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489704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D2D2D"/>
                </a:solidFill>
              </a:rPr>
              <a:t>⚡  Both request classes arrive concurrently on the same CXL-PIM hardware. No single static (PP, TP) configuration can serve both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Background — CENT Architecture &amp; Parallelism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411480" cy="4114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68680"/>
            <a:ext cx="4114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60020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Transformer
&amp; AiM Hardware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0"/>
            <a:ext cx="2103120" cy="278892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1920240" cy="2651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GEMV-dominant decode; PIM executes MACs in-DRAM; 32-ch GDDR6 per device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868680"/>
            <a:ext cx="411480" cy="4114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868680"/>
            <a:ext cx="4114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868680"/>
            <a:ext cx="160020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Tensor
Parallelism (TP)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371600"/>
            <a:ext cx="2103120" cy="278892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417320"/>
            <a:ext cx="1920240" cy="2651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Weights sharded across TP devices; CXL all-reduce per layer; reduces TTFT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868680"/>
            <a:ext cx="411480" cy="4114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868680"/>
            <a:ext cx="4114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868680"/>
            <a:ext cx="160020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Pipeline
Parallelism (PP)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371600"/>
            <a:ext cx="2103120" cy="278892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417320"/>
            <a:ext cx="1920240" cy="2651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Layers distributed across PP stages; PP tokens in-flight; multiplies throughput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868680"/>
            <a:ext cx="411480" cy="4114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868680"/>
            <a:ext cx="4114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868680"/>
            <a:ext cx="160020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SLO Classes
in LLM Serving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371600"/>
            <a:ext cx="2103120" cy="2788920"/>
          </a:xfrm>
          <a:prstGeom prst="rect">
            <a:avLst/>
          </a:prstGeom>
          <a:solidFill>
            <a:srgbClr val="F4F5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417320"/>
            <a:ext cx="1920240" cy="2651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Interactive SLO = 1s TTFT; Batch SLO = 5s; both arrive concurrently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480560"/>
            <a:ext cx="54864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1">
                <a:solidFill>
                  <a:srgbClr val="E8501A"/>
                </a:solidFill>
              </a:rPr>
              <a:t>Each section covered on following slides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160520"/>
            <a:ext cx="8778240" cy="3200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4160520"/>
            <a:ext cx="8778240" cy="27432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4160520"/>
            <a:ext cx="8778240" cy="274320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434840"/>
            <a:ext cx="86868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>
                <a:solidFill>
                  <a:srgbClr val="2D2D2D"/>
                </a:solidFill>
              </a:rPr>
              <a:t>Models:  7B / 8 dev    |    13B / 20 dev    |    70B / 32 dev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>
                <a:solidFill>
                  <a:srgbClr val="2D2D2D"/>
                </a:solidFill>
              </a:rPr>
              <a:t>Each device: 32-channel GDDR6 with AiM PIM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>
                <a:solidFill>
                  <a:srgbClr val="2D2D2D"/>
                </a:solidFill>
              </a:rPr>
              <a:t>CXL 3.0 switch — shared PCIe 5.0 bandwidth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Background 2.1 — Transformer Architecture &amp; AiM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Background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2560320" cy="2612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868680"/>
            <a:ext cx="60350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Transformer Decode Step (single token):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188720"/>
            <a:ext cx="6035040" cy="53035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225296"/>
            <a:ext cx="118872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Self-Attention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25296"/>
            <a:ext cx="466344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Q/K/V GEMV → scores → softmax → output → Wo GEMV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755648"/>
            <a:ext cx="6035040" cy="53035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792224"/>
            <a:ext cx="118872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FFN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92224"/>
            <a:ext cx="466344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W1 GEMV + SiLU gate (W3) → W2 GEMV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322576"/>
            <a:ext cx="6035040" cy="530352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359152"/>
            <a:ext cx="118872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KV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359152"/>
            <a:ext cx="466344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Stores all past K, V → avoids recompute every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26080"/>
            <a:ext cx="60350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00" b="1" i="0">
                <a:solidFill>
                  <a:srgbClr val="1A2E5E"/>
                </a:solidFill>
              </a:rPr>
              <a:t>Why PIM?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00400"/>
            <a:ext cx="60350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Decode is memory-bandwidth-bound (one token → load all weights from DRAM)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547872"/>
            <a:ext cx="60350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AiM executes MAC in-DRAM → no data movement off-chip → 6× lower latency vs GPU (7B)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895344"/>
            <a:ext cx="60350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32 channels per device × N devices = massive parallel bandwidth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200400"/>
            <a:ext cx="2560320" cy="1332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Background 2.2 — Tensor Parallelism (TP)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Background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114800" cy="2631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4840" y="868680"/>
            <a:ext cx="452628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300" b="1" i="0">
                <a:solidFill>
                  <a:srgbClr val="1A2E5E"/>
                </a:solidFill>
              </a:rPr>
              <a:t>How TP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188720"/>
            <a:ext cx="4526280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Weight matrix W sharded column-wise across TP devices.
Each device computes partial GEMV on its 1/TP weight shard.
CXL all-reduce gathers partial sums → full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103120"/>
            <a:ext cx="8778240" cy="1905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452628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Latency formula: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68880"/>
            <a:ext cx="4526280" cy="384048"/>
          </a:xfrm>
          <a:prstGeom prst="rect">
            <a:avLst/>
          </a:prstGeom>
          <a:solidFill>
            <a:srgbClr val="D9EAFF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23744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D2D2D"/>
                </a:solidFill>
              </a:rPr>
              <a:t>TTFT  ∝  compute / TP  +  CXL_allreduce(TP)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71800"/>
            <a:ext cx="452628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CXL bottleneck — 70B at seqlen=512: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246120"/>
            <a:ext cx="914400" cy="30175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246120"/>
            <a:ext cx="91440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246120"/>
            <a:ext cx="960120" cy="30175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246120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PIM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46120"/>
            <a:ext cx="960120" cy="30175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CXL 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246120"/>
            <a:ext cx="1645920" cy="30175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246120"/>
            <a:ext cx="16459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CXL/PIM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547872"/>
            <a:ext cx="91440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47872"/>
            <a:ext cx="91440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1  (PP=80)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3547872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547872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0.693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47872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47872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0.001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3547872"/>
            <a:ext cx="16459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547872"/>
            <a:ext cx="16459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0.2% — compute bound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849624"/>
            <a:ext cx="91440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849624"/>
            <a:ext cx="91440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849624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3849624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0.082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849624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849624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0.021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849624"/>
            <a:ext cx="16459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849624"/>
            <a:ext cx="16459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26%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151376"/>
            <a:ext cx="91440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151376"/>
            <a:ext cx="91440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4151376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4151376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0.048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51376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151376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0.024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151376"/>
            <a:ext cx="16459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4151376"/>
            <a:ext cx="16459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50%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453128"/>
            <a:ext cx="91440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453128"/>
            <a:ext cx="91440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4453128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4453128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0.044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453128"/>
            <a:ext cx="960120" cy="30175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453128"/>
            <a:ext cx="9601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0.025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4453128"/>
            <a:ext cx="1645920" cy="30175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4453128"/>
            <a:ext cx="1645920" cy="3017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0" i="0">
                <a:solidFill>
                  <a:srgbClr val="2D2D2D"/>
                </a:solidFill>
              </a:rPr>
              <a:t>57% — CXL bound 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34840" y="4800600"/>
            <a:ext cx="4526280" cy="347472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485546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D2D2D"/>
                </a:solidFill>
              </a:rPr>
              <a:t>TP=32 already CXL-saturated. Diminishing returns beyond this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Background 2.3 — Pipeline Parallelism (PP)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Background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023360" cy="21485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3400" y="868680"/>
            <a:ext cx="461772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300" b="1" i="0">
                <a:solidFill>
                  <a:srgbClr val="1A2E5E"/>
                </a:solidFill>
              </a:rPr>
              <a:t>How PP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188720"/>
            <a:ext cx="4617720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Transformer layers distributed sequentially across PP devices.
Multiple tokens travel the pipeline simultaneously (one per stage).
While stage 2 processes Token A, stage 1 already processes Token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103120"/>
            <a:ext cx="8778240" cy="1905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461772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Throughput formula: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68880"/>
            <a:ext cx="4617720" cy="384048"/>
          </a:xfrm>
          <a:prstGeom prst="rect">
            <a:avLst/>
          </a:prstGeom>
          <a:solidFill>
            <a:srgbClr val="D6F0DB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2374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D2D2D"/>
                </a:solidFill>
              </a:rPr>
              <a:t>throughput  =  (1 / token_latency)  ×  PP_stages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971800"/>
            <a:ext cx="461772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Key trade-offs vs TP: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64408"/>
            <a:ext cx="1097280" cy="3383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264408"/>
            <a:ext cx="109728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2D2D2D"/>
                </a:solidFill>
              </a:rPr>
              <a:t>TTFT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264408"/>
            <a:ext cx="1737360" cy="338328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TP: ↓ Reduces (parallelizes per-layer)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264408"/>
            <a:ext cx="1737360" cy="33832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264408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PP: → Unchanged (must traverse all stages)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602736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02736"/>
            <a:ext cx="109728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2D2D2D"/>
                </a:solidFill>
              </a:rPr>
              <a:t>Throughput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602736"/>
            <a:ext cx="1737360" cy="338328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602736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TP: ↓ Unchanged (1 token in-flight)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3602736"/>
            <a:ext cx="1737360" cy="33832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602736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PP: ↑ Scales linearly with PP depth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941064"/>
            <a:ext cx="1097280" cy="3383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941064"/>
            <a:ext cx="109728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2D2D2D"/>
                </a:solidFill>
              </a:rPr>
              <a:t>CXL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3941064"/>
            <a:ext cx="1737360" cy="338328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941064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TP: High (all-reduce per layer)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941064"/>
            <a:ext cx="1737360" cy="33832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941064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PP: Near-zero (no weight sharding)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279392"/>
            <a:ext cx="10972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279392"/>
            <a:ext cx="109728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2D2D2D"/>
                </a:solidFill>
              </a:rPr>
              <a:t>Best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4279392"/>
            <a:ext cx="1737360" cy="338328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279392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TP: Short/interactive (low latency)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4279392"/>
            <a:ext cx="1737360" cy="33832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4279392"/>
            <a:ext cx="1737360" cy="33832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PP: Long/batch (high throughput)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Background 2.4 — SLO Classes in LLM Serving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68680"/>
            <a:ext cx="1645920" cy="49377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868680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868680"/>
            <a:ext cx="3474720" cy="49377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868680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Interactive (SLO = 1s)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868680"/>
            <a:ext cx="3474720" cy="49377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868680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Batch / Offline (SLO = 5s)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380744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380744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Request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380744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1380744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Chat, code completion, Q&amp;A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1380744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380744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Summarization, RAG, bulk jobs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892808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1892808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Key 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1892808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1892808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TTFT (time to first token)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892808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1892808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Tokens/second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404872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404872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Seqlen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404872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2404872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Typically ≤ 512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2404872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404872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512 – 4096+ 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16936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2916936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Optimal config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2916936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916936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High TP (PP=1) — min TTFT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2916936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2916936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High PP (TP=1) — max throughput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429000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3429000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If wrong config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429000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3429000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PP=max → TTFT 4–10× over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429000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3429000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TP=max → −79–92% throughput loss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3941064"/>
            <a:ext cx="164592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3941064"/>
            <a:ext cx="16459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SLO budget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3941064"/>
            <a:ext cx="34747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3941064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1.0 second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3941064"/>
            <a:ext cx="347472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3941064"/>
            <a:ext cx="34747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5.0 seconds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343400"/>
            <a:ext cx="8778240" cy="566928"/>
          </a:xfrm>
          <a:prstGeom prst="rect">
            <a:avLst/>
          </a:prstGeom>
          <a:solidFill>
            <a:srgbClr val="D9EAFF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398264"/>
            <a:ext cx="8595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2D2D2D"/>
                </a:solidFill>
              </a:rPr>
              <a:t>In production deployments, both classes co-exist. Operators currently choose one static (PP, TP) config — sacrificing either SLO compliance or throughput. DDA removes this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Motivation — No Static Config Can Meet Both SLOs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TTFT vs Throughput at extreme (PP, TP)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Motivation</a:t>
            </a:r>
          </a:p>
        </p:txBody>
      </p:sp>
      <p:pic>
        <p:nvPicPr>
          <p:cNvPr id="8" name="Picture 7" descr="fig_figure_motivation_dd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8961120" cy="61140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1440" y="4709160"/>
            <a:ext cx="8961120" cy="320040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4764024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Left: meeting 1s SLO (lat-optimal) costs 79–92% throughput  |  Right: 9.7× latency spread at seqlen=512 between TP=32 and PP=80 configs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Motivation — The DDA Ideal ★ is Unreachable by Any Single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Short-TTFT vs Long-Throughput scatter for all (PP, TP) combinations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Motivation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2880360" cy="20796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868680"/>
            <a:ext cx="2880360" cy="208814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868680"/>
            <a:ext cx="2880360" cy="7186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440" y="4389120"/>
            <a:ext cx="8961120" cy="548640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44439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2D2D2D"/>
                </a:solidFill>
              </a:rPr>
              <a:t>★ DDA Ideal = lat-optimal TTFT + tput-optimal throughput simultaneously. Reachable ONLY by routing short requests → Pool L and long requests → Pool T concurrently. No single symmetric (PP, TP) config reaches the top-left corner.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Proposal — Dynamic Device Allocation (DDA): 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Partition N devices into two specialized concurrent pools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Proposal</a:t>
            </a:r>
          </a:p>
        </p:txBody>
      </p:sp>
      <p:pic>
        <p:nvPicPr>
          <p:cNvPr id="8" name="Picture 7" descr="fig_figure_slide_dda_pools_70B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5029200" cy="28175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" y="3566160"/>
            <a:ext cx="5166360" cy="384048"/>
          </a:xfrm>
          <a:prstGeom prst="rect">
            <a:avLst/>
          </a:prstGeom>
          <a:solidFill>
            <a:srgbClr val="D6F0DB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36210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D2D2D"/>
                </a:solidFill>
              </a:rPr>
              <a:t>system_tput  =  Pool_L_tput  +  Pool_T_tput        (both pools run concurrently)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868680"/>
            <a:ext cx="36576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Hardware Constraint — Channel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170432"/>
            <a:ext cx="365760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Pool T needs:  channels/block  =  32 ÷ ceil(layers/N_T)  ≥  min_ch
This sets a hard minimum on N_T → maximum on N_L.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828800"/>
            <a:ext cx="64008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828800"/>
            <a:ext cx="6400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828800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min N_T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828800"/>
            <a:ext cx="73152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828800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max N_L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828800"/>
            <a:ext cx="155448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828800"/>
            <a:ext cx="15544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Valid N_L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167128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167128"/>
            <a:ext cx="6400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7B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167128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167128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167128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167128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2167128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167128"/>
            <a:ext cx="15544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{2}  — ONE split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2505456"/>
            <a:ext cx="6400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505456"/>
            <a:ext cx="6400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13B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505456"/>
            <a:ext cx="73152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2505456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505456"/>
            <a:ext cx="73152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505456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2505456"/>
            <a:ext cx="15544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2505456"/>
            <a:ext cx="15544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{2, 4, 6, 8, 10}  — 5 splits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2843784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2843784"/>
            <a:ext cx="6400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70B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843784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2843784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843784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843784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284378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2843784"/>
            <a:ext cx="15544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{4, 8, 12, 16}  — 4 splits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246120"/>
            <a:ext cx="36576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Breakpoint effect: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502152"/>
            <a:ext cx="36576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Pool T throughput steps at ceil(layers/N_T) boundaries.
Adding devices within a breakpoint group = zero gain.
This collapses the effective design space.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4526280"/>
            <a:ext cx="8778240" cy="38404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458114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D2D2D"/>
                </a:solidFill>
              </a:rPr>
              <a:t>Router: directs each incoming request to Pool L or Pool T based on seqlen / SLO tag / workload mix α  —  three routing strategies covered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Proposal — Three Routing Strategies: Progressive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Each strategy removes one limiting assumption from the previous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3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868680"/>
            <a:ext cx="2834640" cy="34747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868680"/>
            <a:ext cx="28346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S1  —  Seqlen Heuristic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216152"/>
            <a:ext cx="2834640" cy="2971800"/>
          </a:xfrm>
          <a:prstGeom prst="rect">
            <a:avLst/>
          </a:prstGeom>
          <a:solidFill>
            <a:srgbClr val="F7F8FA"/>
          </a:solidFill>
          <a:ln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2728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007B83"/>
                </a:solidFill>
              </a:rPr>
              <a:t>Signal: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" y="1453896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seqlen &lt; 512 → Pool L;  seqlen ≥ 512 → Pool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" y="1783080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007B83"/>
                </a:solidFill>
              </a:rPr>
              <a:t>Split: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984248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argmax(system_tput / static_tput),  chosen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2313432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007B83"/>
                </a:solidFill>
              </a:rPr>
              <a:t>Overhead: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" y="2514600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zero — seqlen known at request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" y="2843784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007B83"/>
                </a:solidFill>
              </a:rPr>
              <a:t>Removes: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" y="3044952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symmetric (PP,TP)-for-all-requests constraint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374136"/>
            <a:ext cx="274320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3374136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007B83"/>
                </a:solidFill>
              </a:rPr>
              <a:t>Drawback: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" y="3575304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seqlen ≠ SLO;  ignores α;  static forever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8" y="868680"/>
            <a:ext cx="2834640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1528" y="868680"/>
            <a:ext cx="28346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S2  —  SLO-Tagged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81528" y="1216152"/>
            <a:ext cx="2834640" cy="2971800"/>
          </a:xfrm>
          <a:prstGeom prst="rect">
            <a:avLst/>
          </a:prstGeom>
          <a:solidFill>
            <a:srgbClr val="F7F8FA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1252728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E8501A"/>
                </a:solidFill>
              </a:rPr>
              <a:t>Signal: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1453896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explicit SLO tag per request  (1s → Pool L,  5s → Pool 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1783080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E8501A"/>
                </a:solidFill>
              </a:rPr>
              <a:t>Split: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1984248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argmax λ_max(N_L,α)  s.t.  TTFT_L &lt; 1.05s,  updated per epoch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313432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E8501A"/>
                </a:solidFill>
              </a:rPr>
              <a:t>Overhead: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2514600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tag lookup + α measurement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2843784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E8501A"/>
                </a:solidFill>
              </a:rPr>
              <a:t>Removes: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3044952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seqlen-as-proxy assumption  +  α-blindness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374136"/>
            <a:ext cx="274320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3374136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E8501A"/>
                </a:solidFill>
              </a:rPr>
              <a:t>Drawback: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3575304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static per epoch;  can't react to mid-epoch α spikes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25896" y="868680"/>
            <a:ext cx="2834640" cy="34747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25896" y="868680"/>
            <a:ext cx="283464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 —  Pareto-Adaptive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5896" y="1216152"/>
            <a:ext cx="2834640" cy="2971800"/>
          </a:xfrm>
          <a:prstGeom prst="rect">
            <a:avLst/>
          </a:prstGeom>
          <a:solidFill>
            <a:srgbClr val="F7F8FA"/>
          </a:solidFill>
          <a:ln>
            <a:solidFill>
              <a:srgbClr val="1A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1252728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A2E5E"/>
                </a:solidFill>
              </a:rPr>
              <a:t>Signal: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1453896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α(t) vs Pareto crossover threshold  (α = 0.143 for 13B)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1783080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A2E5E"/>
                </a:solidFill>
              </a:rPr>
              <a:t>Split: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1984248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switches between 2 Pareto-efficient splits in real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2313432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A2E5E"/>
                </a:solidFill>
              </a:rPr>
              <a:t>Overhead: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2514600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α monitoring + 2s cooldown between reallocations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2843784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A2E5E"/>
                </a:solidFill>
              </a:rPr>
              <a:t>Removes: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3044952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static-per-epoch assumption;  fully dynamic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71616" y="3374136"/>
            <a:ext cx="2743200" cy="493776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9048" y="3374136"/>
            <a:ext cx="914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A2E5E"/>
                </a:solidFill>
              </a:rPr>
              <a:t>Result: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8" y="3575304"/>
            <a:ext cx="269748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S1 throughput at low α  +  S2 SLO compliance at high 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53512" y="2148840"/>
            <a:ext cx="128016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400" b="1" i="0">
                <a:solidFill>
                  <a:srgbClr val="E8501A"/>
                </a:solidFill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2148840"/>
            <a:ext cx="128016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400" b="1" i="0">
                <a:solidFill>
                  <a:srgbClr val="E8501A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" y="4114800"/>
            <a:ext cx="87782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Summary Comparison (Llama2-13B):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4370832"/>
            <a:ext cx="1371600" cy="1828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4370832"/>
            <a:ext cx="137160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480" y="4370832"/>
            <a:ext cx="2377440" cy="1828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54480" y="437083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S1 Seqlen Heuristic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39" y="4370832"/>
            <a:ext cx="2377440" cy="1828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39" y="437083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SLO-Tagged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370832"/>
            <a:ext cx="2377440" cy="18288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37083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S3 Pareto-Adaptive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4553712"/>
            <a:ext cx="13716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" y="4553712"/>
            <a:ext cx="137160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Adapts to α?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54480" y="455371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54480" y="455371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77639" y="455371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39" y="455371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Per epoch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55371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55371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Real-time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7160" y="4736592"/>
            <a:ext cx="1371600" cy="182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7160" y="4736592"/>
            <a:ext cx="137160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System tput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54480" y="4736592"/>
            <a:ext cx="2377440" cy="182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4480" y="473659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3020 tok/s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77639" y="4736592"/>
            <a:ext cx="2377440" cy="182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77639" y="473659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3020 / 2506 tok/s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736592"/>
            <a:ext cx="2377440" cy="1828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473659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3020 (low α) / 2506 (high α)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7160" y="4919472"/>
            <a:ext cx="13716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" y="4919472"/>
            <a:ext cx="137160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1s SLO met?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54480" y="491947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54480" y="491947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✗ (1.003s)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77639" y="491947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7639" y="491947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✓ (0.882s)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4919472"/>
            <a:ext cx="237744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0" y="4919472"/>
            <a:ext cx="237744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✓ when α ≥ 0.143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1 — Short-Request Performance (seqlen ≤ 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DDA pool splitting achieves 1.3–4.9× higher throughput vs best static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S1  Seqlen Heuristic</a:t>
            </a:r>
          </a:p>
        </p:txBody>
      </p:sp>
      <p:pic>
        <p:nvPicPr>
          <p:cNvPr id="8" name="Picture 7" descr="fig_figure_dda_strategy1_shortse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6217920" cy="41998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46520" y="868680"/>
            <a:ext cx="2560320" cy="27432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868680"/>
            <a:ext cx="256032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Best-Gain Splits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70432"/>
            <a:ext cx="2560320" cy="256032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70432"/>
            <a:ext cx="256032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7B  (8 dev)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444752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N_L / N_T:  2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618488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1A2E5E"/>
                </a:solidFill>
              </a:rPr>
              <a:t>Gain:  1.3×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92224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TTFT:  0.82s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965960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SLO:  1s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176272"/>
            <a:ext cx="2560320" cy="256032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76272"/>
            <a:ext cx="256032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13B (20 dev)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450592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N_L / N_T:  6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24328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1A2E5E"/>
                </a:solidFill>
              </a:rPr>
              <a:t>Gain:  3.9×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798064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TTFT:  1.00s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971800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SLO:  ~1s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182112"/>
            <a:ext cx="2560320" cy="256032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182112"/>
            <a:ext cx="256032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70B (32 dev)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456432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N_L / N_T:  12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630168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1A2E5E"/>
                </a:solidFill>
              </a:rPr>
              <a:t>Gain:  4.9×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803904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TTFT:  3.36s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977640"/>
            <a:ext cx="2468880" cy="1828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SLO:  5s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4617720"/>
            <a:ext cx="6217920" cy="38404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672584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7B: hardware-constrained to N_L=2 only (1 valid split). 13B/70B: rich design space → 4–5× gains. DDA TTFT slightly higher than best static (+12% 13B, +8% 70B).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1 — Long-Request Pool T Analysis (seqlen &gt; 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Pool T (PP=max_layers) delivers 3–4× higher throughput; TTFT irrelevant for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S1  Seqlen Heuristic</a:t>
            </a:r>
          </a:p>
        </p:txBody>
      </p:sp>
      <p:pic>
        <p:nvPicPr>
          <p:cNvPr id="8" name="Picture 7" descr="fig_figure_dda_strategy1_longse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6309360" cy="19508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92240" y="868680"/>
            <a:ext cx="2514600" cy="27432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868680"/>
            <a:ext cx="25146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 seqlen = 1024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170432"/>
            <a:ext cx="594360" cy="31089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943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170432"/>
            <a:ext cx="685800" cy="31089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17043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Static 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170432"/>
            <a:ext cx="685800" cy="31089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17043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Pool T 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170432"/>
            <a:ext cx="548640" cy="310896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170432"/>
            <a:ext cx="54864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490472"/>
            <a:ext cx="594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90472"/>
            <a:ext cx="5943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7B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49047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49047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2197 tok/s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9047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49047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2239 tok/s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1490472"/>
            <a:ext cx="548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490472"/>
            <a:ext cx="54864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+2%  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810512"/>
            <a:ext cx="594360" cy="3108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810512"/>
            <a:ext cx="5943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13B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810512"/>
            <a:ext cx="685800" cy="3108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181051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958 tok/s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1810512"/>
            <a:ext cx="685800" cy="3108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181051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3067 tok/s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1810512"/>
            <a:ext cx="548640" cy="3108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810512"/>
            <a:ext cx="54864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+3.2×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594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130552"/>
            <a:ext cx="5943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70B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213055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13055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272 tok/s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130552"/>
            <a:ext cx="685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2130552"/>
            <a:ext cx="6858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1065 tok/s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130552"/>
            <a:ext cx="548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130552"/>
            <a:ext cx="54864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+3.9×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532888"/>
            <a:ext cx="25146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Breakpoint Effect: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788920"/>
            <a:ext cx="25146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13B N_T 10–12: same ch/block → =  2116 tok/s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099816"/>
            <a:ext cx="25146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1A2E5E"/>
                </a:solidFill>
              </a:rPr>
              <a:t>13B N_T 14–18: better ch/block → =  2666 tok/s 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410712"/>
            <a:ext cx="25146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70B N_T 20–24: same ch/block → =  mid tier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721608"/>
            <a:ext cx="2514600" cy="2926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1A2E5E"/>
                </a:solidFill>
              </a:rPr>
              <a:t>70B N_T 28: best ch/block → =  best tput 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" y="4617720"/>
            <a:ext cx="6309360" cy="38404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4672584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7B: Pool T only 6 devices — can't outperform 8-device static (+2% only). DDA benefit for 7B is TTFT only, not batch throughput.
70B: switching to long-seq split (N_T=28) hits better breakpoint → +24% Pool T tput.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2 — SLO-Tagged Routing with ±5%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Explicit SLO label per request; split chosen to maximize throughput under SLO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8718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S2  SLO-Tagged</a:t>
            </a:r>
          </a:p>
        </p:txBody>
      </p:sp>
      <p:pic>
        <p:nvPicPr>
          <p:cNvPr id="8" name="Picture 7" descr="fig_figure_dda_strategy2_to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6263640" cy="242366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46520" y="868680"/>
            <a:ext cx="2560320" cy="27432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868680"/>
            <a:ext cx="256032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S2 vs S1 Splits (±5% tol)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70432"/>
            <a:ext cx="68580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70432"/>
            <a:ext cx="685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170432"/>
            <a:ext cx="54864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170432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S1 N_L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170432"/>
            <a:ext cx="54864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70432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N_L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70432"/>
            <a:ext cx="77724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70432"/>
            <a:ext cx="7772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Δ 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499616"/>
            <a:ext cx="685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99616"/>
            <a:ext cx="685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7B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499616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499616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499616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499616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499616"/>
            <a:ext cx="777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7772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0%  (same)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1828800"/>
            <a:ext cx="685800" cy="3200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828800"/>
            <a:ext cx="685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13B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828800"/>
            <a:ext cx="548640" cy="3200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828800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828800"/>
            <a:ext cx="548640" cy="3200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828800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828800"/>
            <a:ext cx="777240" cy="3200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1828800"/>
            <a:ext cx="7772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0%  (tol saves −17%)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2157984"/>
            <a:ext cx="685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157984"/>
            <a:ext cx="685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70B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157984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157984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157984"/>
            <a:ext cx="548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157984"/>
            <a:ext cx="5486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157984"/>
            <a:ext cx="777240" cy="320040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2157984"/>
            <a:ext cx="77724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</a:rPr>
              <a:t>+20%  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532888"/>
            <a:ext cx="256032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Gain vs balanced static: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788920"/>
            <a:ext cx="2560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7B:  1.3×  (0.82s)  SLO: 1s 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154680"/>
            <a:ext cx="2560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13B:  3.9×  (1.00s)  SLO: ~1s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3520440"/>
            <a:ext cx="2560320" cy="347472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520440"/>
            <a:ext cx="256032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1" i="0">
                <a:solidFill>
                  <a:srgbClr val="1A2E5E"/>
                </a:solidFill>
              </a:rPr>
              <a:t>70B:  5.9×  (4.38s)  SLO: 5s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" y="4572000"/>
            <a:ext cx="6263640" cy="457200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4626864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Why ±5% tolerance? — 13B TTFT=1.003s fails strict 1s, but 1.05s passes → retains N_L=6 (3020 tok/s) instead of downgrading to N_L=10 (2506 tok/s, −17%).
70B: S2 objective (max system_tput) selects N_L=4, N_T=28 — hits Pool T breakpoint that S1's gain-ratio objective misses → +20%.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2 — α-Dependent Split: Optimal N_L Stabilizes Before α=0.20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λ_max framework: max sustainable rate at each workload mix α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8718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S2  SLO-Tagged</a:t>
            </a:r>
          </a:p>
        </p:txBody>
      </p:sp>
      <p:pic>
        <p:nvPicPr>
          <p:cNvPr id="8" name="Picture 7" descr="fig_figure_dda_strategy2_alph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6400800" cy="23519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0" y="868680"/>
            <a:ext cx="2423160" cy="777240"/>
          </a:xfrm>
          <a:prstGeom prst="rect">
            <a:avLst/>
          </a:prstGeom>
          <a:solidFill>
            <a:srgbClr val="D9EAFF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923544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2D2D2D"/>
                </a:solidFill>
              </a:rPr>
              <a:t>λ_max(N_L, α)  =
 min(Pool_L_tput/α ,
       Pool_T_tput/(1−α))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19072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1A2E5E"/>
                </a:solidFill>
              </a:rPr>
              <a:t>N_L transitions (all before α=0.20):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84248"/>
            <a:ext cx="24231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• 7B:  always N_L=2  (hardware limit)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24231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• 13B:  2→4→6 (5s SLO) → 8→10 (1s ✓) locks at α≥0.15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79192"/>
            <a:ext cx="24231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• 70B:  4→8→12→16 (all 5s SLO) locks at α≥0.12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1A2E5E"/>
                </a:solidFill>
              </a:rPr>
              <a:t>Cost of S2's SLO guarantee: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24231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E8501A"/>
                </a:solidFill>
              </a:rPr>
              <a:t>• 13B: −500 tok/s Pool T at seqlen=1024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66744"/>
            <a:ext cx="24231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E8501A"/>
                </a:solidFill>
              </a:rPr>
              <a:t>• 70B: −200 tok/s Pool T at seqlen=1024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95928"/>
            <a:ext cx="24231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• Pool T TTFT: 10–100× above 5s SLO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25112"/>
            <a:ext cx="242316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• (batch/offline — TTFT irrelevant here)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4617720"/>
            <a:ext cx="6400800" cy="365760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67258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Key insight: above α≈0.15 the optimal N_L locks and stops changing. S2 can use a stable pre-computed lookup table for 80%+ of real workload mixes.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3 — Pareto Analysis: Design Space Collapses to 2 Efficient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Breakpoint effect makes most N_L values Pareto-dominated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2142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S3  Pareto-Adaptive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868680"/>
            <a:ext cx="42062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13B — All valid splits: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143000"/>
            <a:ext cx="36576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1143000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N_L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86868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Pool_L_tput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143000"/>
            <a:ext cx="86868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143000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Pool_T_tput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143000"/>
            <a:ext cx="105156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1143000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Breakpoint grp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143000"/>
            <a:ext cx="105156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43000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1481328"/>
            <a:ext cx="365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1481328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481328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481328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261 tok/s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1481328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1481328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2666 tok/s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1481328"/>
            <a:ext cx="1051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1481328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N_T=18 (same)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481328"/>
            <a:ext cx="1051560" cy="329184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1481328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✗ Dominated by N_L=6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1819656"/>
            <a:ext cx="36576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1819656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819656"/>
            <a:ext cx="8686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819656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322 tok/s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1819656"/>
            <a:ext cx="8686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1819656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2666 tok/s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1819656"/>
            <a:ext cx="105156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1819656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N_T=16 (same)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1819656"/>
            <a:ext cx="1051560" cy="329184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1819656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✗ Dominated by N_L=6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" y="2157984"/>
            <a:ext cx="365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" y="2157984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2157984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157984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354 tok/s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2157984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2157984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2666 tok/s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2157984"/>
            <a:ext cx="1051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2157984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N_T=14  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2157984"/>
            <a:ext cx="1051560" cy="329184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2157984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B7A3E"/>
                </a:solidFill>
              </a:rPr>
              <a:t>✅ Pareto-efficient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" y="2496312"/>
            <a:ext cx="36576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" y="2496312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2496312"/>
            <a:ext cx="8686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496312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361 tok/s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2496312"/>
            <a:ext cx="86868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2496312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2116 tok/s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40280" y="2496312"/>
            <a:ext cx="105156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2496312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N_T=12 (same)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2496312"/>
            <a:ext cx="1051560" cy="329184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2496312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✗ Dominated by N_L=10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2834640"/>
            <a:ext cx="365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" y="2834640"/>
            <a:ext cx="3657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2834640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2834640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390 tok/s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2834640"/>
            <a:ext cx="868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2834640"/>
            <a:ext cx="86868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</a:rPr>
              <a:t>2116 tok/s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40280" y="2834640"/>
            <a:ext cx="10515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2834640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N_T=10  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91840" y="2834640"/>
            <a:ext cx="1051560" cy="329184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0" y="2834640"/>
            <a:ext cx="105156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1" i="0">
                <a:solidFill>
                  <a:srgbClr val="1B7A3E"/>
                </a:solidFill>
              </a:rPr>
              <a:t>✅ Pareto-efficient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160" y="3246120"/>
            <a:ext cx="42062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1A2E5E"/>
                </a:solidFill>
              </a:rPr>
              <a:t>Why N_L=2,4 dominated by N_L=6: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60" y="3502152"/>
            <a:ext cx="4206240" cy="8229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N_T=14, 16, 18 all share the same ceil(40/N_T)=3 breakpoint
→ identical Pool_T_tput (2666 tok/s). But N_L=6 has the
highest Pool_L_tput in this group. N_L=2,4 are strictly worse
in Pool_L_tput AND provide no Pool_T_tput advantage.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868680"/>
            <a:ext cx="434340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Pareto Crossover Calculation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1161288"/>
            <a:ext cx="4343400" cy="1828800"/>
          </a:xfrm>
          <a:prstGeom prst="rect">
            <a:avLst/>
          </a:prstGeom>
          <a:solidFill>
            <a:srgbClr val="D9EAFF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0" y="1216152"/>
            <a:ext cx="4160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D2D2D"/>
                </a:solidFill>
              </a:rPr>
              <a:t>λ_max(N_L=6,  α) = min( 354/α ,  2666/(1−α) )
λ_max(N_L=10, α) = min( 390/α ,  2116/(1−α) )
At crossover, Pool-L-limited regime:
  354/α  =  2116/(1−α)
  354(1−α)  =  2116α
  α  =  354 / (354 + 2116)  =  0.143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0" y="3044952"/>
            <a:ext cx="43434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Interpretation: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0" y="3300984"/>
            <a:ext cx="868680" cy="475488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0" y="3300984"/>
            <a:ext cx="86868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α &lt; 0.143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0" y="3300984"/>
            <a:ext cx="3383280" cy="475488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0" y="3300984"/>
            <a:ext cx="338328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N_L=6 optimal — more Pool T capacity needed (batch-heavy)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3803904"/>
            <a:ext cx="868680" cy="47548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0" y="3803904"/>
            <a:ext cx="86868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</a:rPr>
              <a:t>α ≥ 0.143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3803904"/>
            <a:ext cx="3383280" cy="47548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0" y="3803904"/>
            <a:ext cx="3383280" cy="47548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N_L=10 optimal — more Pool L capacity needed + 1s SLO guaranteed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617720"/>
            <a:ext cx="8778240" cy="38404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" y="467258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S3 only needs to track one binary signal: is α above or below 0.143?  Switch is instantaneous (cooldown=2s). No weight reload — weights are DRAM-resident; only routing table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Strategy 3 — Dynamic Simulation: S3 Achieves Best of S1 and 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Llama2-13B  |  λ=350 tok/s  |  α ramps 0.05 → 0.35 → 0.05  |  Pareto crossover α=0.143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2142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S3  Pareto-Adaptive</a:t>
            </a:r>
          </a:p>
        </p:txBody>
      </p:sp>
      <p:pic>
        <p:nvPicPr>
          <p:cNvPr id="8" name="Picture 7" descr="fig_figure_dda_strategy3_v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68680"/>
            <a:ext cx="6400800" cy="4084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868680"/>
            <a:ext cx="242316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50" b="1" i="0">
                <a:solidFill>
                  <a:srgbClr val="1A2E5E"/>
                </a:solidFill>
              </a:rPr>
              <a:t>What each panel shows: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61288"/>
            <a:ext cx="777240" cy="25603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161288"/>
            <a:ext cx="7772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(a) α(t)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1161288"/>
            <a:ext cx="16002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Gradual ramp crossing threshold at t≈22s and t≈62s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709928"/>
            <a:ext cx="777240" cy="25603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09928"/>
            <a:ext cx="7772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(b) 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709928"/>
            <a:ext cx="16002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S3=S1 (3020) at low α; drops to S2 (2506) at high 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58568"/>
            <a:ext cx="777240" cy="25603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58568"/>
            <a:ext cx="7772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(c) R_L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258568"/>
            <a:ext cx="16002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S3 at 1.003s → drops to 0.882s when N_L switches (121ms reduction)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807208"/>
            <a:ext cx="777240" cy="25603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7772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(d) N_L(t)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807208"/>
            <a:ext cx="16002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S3 steps 6→10 at t≈22s and back 10→6 at t≈62s. Both directions.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47288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1" i="0">
                <a:solidFill>
                  <a:srgbClr val="1A2E5E"/>
                </a:solidFill>
              </a:rPr>
              <a:t>Strategy comparison: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703320"/>
            <a:ext cx="2423160" cy="228600"/>
          </a:xfrm>
          <a:prstGeom prst="rect">
            <a:avLst/>
          </a:prstGeom>
          <a:solidFill>
            <a:srgbClr val="FFE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S1 fixed N_L=6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41064"/>
            <a:ext cx="242316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tput: 3020 always  |  R_L: 1.003s always  |  100% SLO 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233672"/>
            <a:ext cx="2423160" cy="228600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33672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S2 fixed N_L=10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71416"/>
            <a:ext cx="242316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tput: 2506 always  |  R_L: 0.882s always  |  0%  SLO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764024"/>
            <a:ext cx="2423160" cy="228600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64024"/>
            <a:ext cx="242316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S3 adaptive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01768"/>
            <a:ext cx="242316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</a:rPr>
              <a:t>tput: best of both  |  R_L: best of both  |  ~20% at low α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4617720"/>
            <a:ext cx="6400800" cy="38404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467258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2D2D2D"/>
                </a:solidFill>
              </a:rPr>
              <a:t>Queue wait &lt; 0.2% of R_L. Real S3 gain = 121ms hardware TTFT reduction, not queuing. SLO violation (~20%) is only at batch-heavy phase where interactive load is minimal — acceptable.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Results — DDA Achieves 1.3–5.9× Throughput vs Best Static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All models, all strategies, at comparable TTFT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2726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11430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868680"/>
            <a:ext cx="11430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868680"/>
            <a:ext cx="100584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868680"/>
            <a:ext cx="100584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Best Static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868680"/>
            <a:ext cx="9144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868680"/>
            <a:ext cx="9144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S1 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868680"/>
            <a:ext cx="6858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868680"/>
            <a:ext cx="6858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S1 TTFT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868680"/>
            <a:ext cx="6858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868680"/>
            <a:ext cx="6858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S1 SLO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868680"/>
            <a:ext cx="9144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868680"/>
            <a:ext cx="9144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868680"/>
            <a:ext cx="6858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868680"/>
            <a:ext cx="6858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TTFT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868680"/>
            <a:ext cx="68580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868680"/>
            <a:ext cx="68580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SLO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868680"/>
            <a:ext cx="731520" cy="329184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868680"/>
            <a:ext cx="731520" cy="329184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S2 gain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1216152"/>
            <a:ext cx="11430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216152"/>
            <a:ext cx="11430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7B  (8 dev)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1216152"/>
            <a:ext cx="100584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1216152"/>
            <a:ext cx="100584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1822 tok/s
(0.82s)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1216152"/>
            <a:ext cx="9144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1216152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2362 tok/s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216152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1216152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0.82s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216152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1216152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1s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1216152"/>
            <a:ext cx="9144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1216152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2362 tok/s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1216152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1216152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0.82s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216152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1216152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1s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1216152"/>
            <a:ext cx="731520" cy="493776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1216152"/>
            <a:ext cx="7315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1A2E5E"/>
                </a:solidFill>
              </a:rPr>
              <a:t>1.3×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" y="1728216"/>
            <a:ext cx="1143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" y="1728216"/>
            <a:ext cx="11430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13B (20 dev)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" y="1728216"/>
            <a:ext cx="10058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" y="1728216"/>
            <a:ext cx="100584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780 tok/s
(0.88s)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1728216"/>
            <a:ext cx="914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0280" y="1728216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3020 tok/s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1728216"/>
            <a:ext cx="6858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1728216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1.00s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1728216"/>
            <a:ext cx="6858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0" y="1728216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~1s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1728216"/>
            <a:ext cx="914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1728216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3020 tok/s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1728216"/>
            <a:ext cx="6858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0680" y="1728216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1.00s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1728216"/>
            <a:ext cx="6858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1728216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~1s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2280" y="1728216"/>
            <a:ext cx="731520" cy="493776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12280" y="1728216"/>
            <a:ext cx="7315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1A2E5E"/>
                </a:solidFill>
              </a:rPr>
              <a:t>3.9×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2240280"/>
            <a:ext cx="11430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" y="2240280"/>
            <a:ext cx="11430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70B (32 dev)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34440" y="2240280"/>
            <a:ext cx="100584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4440" y="2240280"/>
            <a:ext cx="100584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216 tok/s
(3.09s)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40280" y="2240280"/>
            <a:ext cx="9144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40280" y="2240280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1057 tok/s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2240280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54680" y="2240280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3.36s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40480" y="2240280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0" y="2240280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5s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26280" y="2240280"/>
            <a:ext cx="9144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80" y="2240280"/>
            <a:ext cx="9144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1268 tok/s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2240280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40680" y="2240280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4.38s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2240280"/>
            <a:ext cx="685800" cy="4937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0" y="2240280"/>
            <a:ext cx="68580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5s 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12280" y="2240280"/>
            <a:ext cx="731520" cy="493776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12280" y="2240280"/>
            <a:ext cx="731520" cy="49377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50" b="1" i="0">
                <a:solidFill>
                  <a:srgbClr val="1A2E5E"/>
                </a:solidFill>
              </a:rPr>
              <a:t>5.9× 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" y="2926080"/>
            <a:ext cx="457200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System throughput gain vs balanced static (S2):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" y="3246120"/>
            <a:ext cx="6400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/>
            <a:r>
              <a:rPr sz="1000" b="1" i="0">
                <a:solidFill>
                  <a:srgbClr val="2D2D2D"/>
                </a:solidFill>
              </a:rPr>
              <a:t>7B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3300984"/>
            <a:ext cx="1257300" cy="292608"/>
          </a:xfrm>
          <a:prstGeom prst="rect">
            <a:avLst/>
          </a:prstGeom>
          <a:solidFill>
            <a:srgbClr val="D9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07692" y="3246120"/>
            <a:ext cx="54864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1.3×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" y="3721608"/>
            <a:ext cx="6400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/>
            <a:r>
              <a:rPr sz="1000" b="1" i="0">
                <a:solidFill>
                  <a:srgbClr val="2D2D2D"/>
                </a:solidFill>
              </a:rPr>
              <a:t>13B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" y="3776472"/>
            <a:ext cx="3671316" cy="29260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21708" y="3721608"/>
            <a:ext cx="54864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3.9×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" y="4197096"/>
            <a:ext cx="6400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/>
            <a:r>
              <a:rPr sz="1000" b="1" i="0">
                <a:solidFill>
                  <a:srgbClr val="2D2D2D"/>
                </a:solidFill>
              </a:rPr>
              <a:t>70B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" y="4251960"/>
            <a:ext cx="5029200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79592" y="4197096"/>
            <a:ext cx="54864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100" b="1" i="0">
                <a:solidFill>
                  <a:srgbClr val="1A2E5E"/>
                </a:solidFill>
              </a:rPr>
              <a:t>5.9×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" y="4663440"/>
            <a:ext cx="8778240" cy="365760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2880" y="47183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D2D2D"/>
                </a:solidFill>
              </a:rPr>
              <a:t>7B gain is modest — hardware constraint limits Pool T to 6 devices only (can't beat 8-device static at throughput). 13B/70B: Pool T PP=max_layers is unreachable by any symmetric config → 4–6× gains.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Results — S3 is Pareto-Dominant Over Both S1 and 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E8501A"/>
                </a:solidFill>
              </a:rPr>
              <a:t>Llama2-13B  |  Achieves S1 throughput at low α  AND  S2 SLO compliance at high α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804672"/>
            <a:ext cx="1463040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27264" y="804672"/>
            <a:ext cx="1463040" cy="25603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128016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868680"/>
            <a:ext cx="128016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868680"/>
            <a:ext cx="155448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868680"/>
            <a:ext cx="155448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Balanced Static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868680"/>
            <a:ext cx="1828800" cy="3200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868680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S1  Seqlen Heuristic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868680"/>
            <a:ext cx="1828800" cy="3200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868680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S2  SLO-Tagged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868680"/>
            <a:ext cx="1828800" cy="32004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868680"/>
            <a:ext cx="18288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S3  Pareto-Adaptive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1207008"/>
            <a:ext cx="128016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" y="1207008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Split (N_L, N_T)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207008"/>
            <a:ext cx="155448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1207008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PP=2, TP=10
(no split)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207008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120700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N_L=6, N_T=14
fixed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207008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20700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N_L=10, N_T=10
fixed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207008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20700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6 ↔ 10
adaptive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160934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" y="1609344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Tput (low 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160934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1609344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780 tok/s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1609344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160934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3020 tok/s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1609344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60934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2506 tok/s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609344"/>
            <a:ext cx="1828800" cy="38404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60934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1B7A3E"/>
                </a:solidFill>
              </a:rPr>
              <a:t>3020 tok/s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011680"/>
            <a:ext cx="128016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2011680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Tput (high α)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2011680"/>
            <a:ext cx="155448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2011680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780 tok/s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2011680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201168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3020 tok/s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011680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201168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2506 tok/s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011680"/>
            <a:ext cx="1828800" cy="38404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201168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1B7A3E"/>
                </a:solidFill>
              </a:rPr>
              <a:t>2506 tok/s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" y="241401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" y="2414016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R_L (low α)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2414016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2414016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0.88s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241401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2414016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1.003s  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241401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2414016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0.882s 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41401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2414016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1.003s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" y="2816352"/>
            <a:ext cx="128016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" y="2816352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R_L (high α)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2816352"/>
            <a:ext cx="155448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2816352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0.88s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2816352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2816352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1.003s  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2816352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2816352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0.882s 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2816352"/>
            <a:ext cx="1828800" cy="38404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2816352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1B7A3E"/>
                </a:solidFill>
              </a:rPr>
              <a:t>0.882s 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" y="321868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3218688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1s SLO compliance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321868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3218688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✓  (always)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26080" y="32186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26080" y="321868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✗  (always 1.003s)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32186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0" y="321868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✓  (always 0.882s)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321868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218688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✓ when α≥0.143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" y="3621024"/>
            <a:ext cx="128016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" y="3621024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Adapts to α?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0" y="3621024"/>
            <a:ext cx="155448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71600" y="3621024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3621024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26080" y="362102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3621024"/>
            <a:ext cx="1828800" cy="38404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54880" y="362102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Per epoch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3621024"/>
            <a:ext cx="1828800" cy="384048"/>
          </a:xfrm>
          <a:prstGeom prst="rect">
            <a:avLst/>
          </a:prstGeom>
          <a:solidFill>
            <a:srgbClr val="D6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0" y="3621024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1B7A3E"/>
                </a:solidFill>
              </a:rPr>
              <a:t>Real-time ✓ 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" y="402336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" y="4023360"/>
            <a:ext cx="128016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</a:rPr>
              <a:t>Gain vs static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4023360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71600" y="4023360"/>
            <a:ext cx="155448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1×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0" y="402336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26080" y="402336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3.9×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02336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402336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3.9×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83680" y="402336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0" y="4023360"/>
            <a:ext cx="1828800" cy="38404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</a:rPr>
              <a:t>3.9× / 3.2×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440" y="4572000"/>
            <a:ext cx="8778240" cy="475488"/>
          </a:xfrm>
          <a:prstGeom prst="rect">
            <a:avLst/>
          </a:prstGeom>
          <a:solidFill>
            <a:srgbClr val="FFEDD9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2880" y="462686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2D2D2D"/>
                </a:solidFill>
              </a:rPr>
              <a:t>★ S3 is strictly Pareto-dominant: no other strategy achieves both high throughput AND SLO compliance simultaneously across all α values. The ~20% SLO violation window is at low-α (batch-heavy) — those few interactive requests see 1.003s vs 1.050s budget (within perceptual threshold).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/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Conclusion — DDA Breaks the Latency-Throughput Trade-off in CXL-PIM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2788920" cy="3200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68680"/>
            <a:ext cx="278892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What We Showed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88720"/>
            <a:ext cx="2788920" cy="2926080"/>
          </a:xfrm>
          <a:prstGeom prst="rect">
            <a:avLst/>
          </a:prstGeom>
          <a:solidFill>
            <a:srgbClr val="F7F8FA"/>
          </a:solidFill>
          <a:ln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52728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No single static (PP, TP) config serves mixed interactive + batch workloads efficiently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911096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Choosing TP=max for latency costs 79–92%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569464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Choosing PP=max for throughput violates SLOs by 4–10×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3227832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The ideal corner (low TTFT + high tput) is only reachable by pool splitting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868680"/>
            <a:ext cx="2788920" cy="3200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868680"/>
            <a:ext cx="278892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188720"/>
            <a:ext cx="2788920" cy="2926080"/>
          </a:xfrm>
          <a:prstGeom prst="rect">
            <a:avLst/>
          </a:prstGeom>
          <a:solidFill>
            <a:srgbClr val="F7F8FA"/>
          </a:solidFill>
          <a:ln>
            <a:solidFill>
              <a:srgbClr val="E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252728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S1: seqlen heuristic — 1.3–4.9× gain, zero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1911096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S2: SLO-tagged routing — up to 5.9× gain, meets 1s SLO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569464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S3: Pareto-adaptive — achieves S1 tput at low α AND S2 SLO compliance at high 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227832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All three run on same CXL fabric, no hardware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868680"/>
            <a:ext cx="2788920" cy="320040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868680"/>
            <a:ext cx="278892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188720"/>
            <a:ext cx="2788920" cy="2926080"/>
          </a:xfrm>
          <a:prstGeom prst="rect">
            <a:avLst/>
          </a:prstGeom>
          <a:solidFill>
            <a:srgbClr val="F7F8FA"/>
          </a:solidFill>
          <a:ln>
            <a:solidFill>
              <a:srgbClr val="1A2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6752" y="1252728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Multi-tier SLO (3+ classes) with richer pool configurations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911096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Hardware-level fast device migration (sub-100ms reconfiguration)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569464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Joint optimization with request batching (within Pool 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227832"/>
            <a:ext cx="2651760" cy="62179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Extension to 3-way splits (TP-pool + PP-pool + hybrid-pool)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4133087"/>
            <a:ext cx="8869680" cy="713232"/>
          </a:xfrm>
          <a:prstGeom prst="rect">
            <a:avLst/>
          </a:prstGeom>
          <a:solidFill>
            <a:srgbClr val="1A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DDA does not require choosing between latency and throughput. It routes each request to the configuration it actually needs, while both pools run concurrently on the same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